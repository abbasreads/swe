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057400"/>
            <a:ext cx="128016" cy="128016"/>
          </a:xfrm>
          <a:prstGeom prst="ellipse">
            <a:avLst/>
          </a:prstGeom>
          <a:solidFill>
            <a:srgbClr val="9F123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" y="19659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F1239"/>
                </a:solidFill>
                <a:latin typeface="Calibri"/>
              </a:rPr>
              <a:t>SAMS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800" b="1">
                <a:solidFill>
                  <a:srgbClr val="18181B"/>
                </a:solidFill>
                <a:latin typeface="Calibri"/>
              </a:rPr>
              <a:t>Students' Auditorium</a:t>
            </a:r>
          </a:p>
          <a:p>
            <a:r>
              <a:rPr sz="4800" b="1">
                <a:solidFill>
                  <a:srgbClr val="18181B"/>
                </a:solidFill>
                <a:latin typeface="Calibri"/>
              </a:rPr>
              <a:t>Management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71717A"/>
                </a:solidFill>
                <a:latin typeface="Calibri"/>
              </a:rPr>
              <a:t>Software Engineering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Mohammad Abbas Mehdi  ·  24JE0656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Replace the manual show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214495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8181B"/>
                </a:solidFill>
                <a:latin typeface="Calibri"/>
              </a:rPr>
              <a:t>Show Manager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71717A"/>
                </a:solidFill>
                <a:latin typeface="Calibri"/>
              </a:rPr>
              <a:t>Show dates, timings, seats for sale, complimentary seats, prices, sales accounts, reports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46304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7993" y="1691640"/>
            <a:ext cx="214495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8181B"/>
                </a:solidFill>
                <a:latin typeface="Calibri"/>
              </a:rPr>
              <a:t>Sales Person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71717A"/>
                </a:solidFill>
                <a:latin typeface="Calibri"/>
              </a:rPr>
              <a:t>Sells tickets with seat numbers; each sale records the sales person for commission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146304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47" y="1691640"/>
            <a:ext cx="214495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8181B"/>
                </a:solidFill>
                <a:latin typeface="Calibri"/>
              </a:rPr>
              <a:t>Spectator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71717A"/>
                </a:solidFill>
                <a:latin typeface="Calibri"/>
              </a:rPr>
              <a:t>Queries seat availability; books and cancels through a sales person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40901" y="146304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9501" y="1691640"/>
            <a:ext cx="214495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8181B"/>
                </a:solidFill>
                <a:latin typeface="Calibri"/>
              </a:rPr>
              <a:t>Accounts Clerk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71717A"/>
                </a:solidFill>
                <a:latin typeface="Calibri"/>
              </a:rPr>
              <a:t>Enters show expenditure, including payment to artists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71717A"/>
                </a:solidFill>
                <a:latin typeface="Calibri"/>
              </a:rPr>
              <a:t>REFUND ON CANCELLATION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0624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89120"/>
            <a:ext cx="30885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9F1239"/>
                </a:solidFill>
                <a:latin typeface="Calibri"/>
              </a:rPr>
              <a:t>− Rs 5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71717A"/>
                </a:solidFill>
                <a:latin typeface="Calibri"/>
              </a:rPr>
              <a:t>3+ clear days before the show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20624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4389120"/>
            <a:ext cx="30885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9F1239"/>
                </a:solidFill>
                <a:latin typeface="Calibri"/>
              </a:rPr>
              <a:t>− Rs 10 / 15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71717A"/>
                </a:solidFill>
                <a:latin typeface="Calibri"/>
              </a:rPr>
              <a:t>3 to 1 days before (ordinary / balcony)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4206240"/>
            <a:ext cx="354573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4389120"/>
            <a:ext cx="30885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9F1239"/>
                </a:solidFill>
                <a:latin typeface="Calibri"/>
              </a:rPr>
              <a:t>− 50%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71717A"/>
                </a:solidFill>
                <a:latin typeface="Calibri"/>
              </a:rPr>
              <a:t>last day of the show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Constraint  </a:t>
            </a:r>
            <a:r>
              <a:rPr sz="1400" b="0">
                <a:solidFill>
                  <a:srgbClr val="71717A"/>
                </a:solidFill>
                <a:latin typeface="Calibri"/>
              </a:rPr>
              <a:t>low cost, free software: Linux · MySQL · Apache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Built on free software, as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508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08760"/>
            <a:ext cx="4236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WHY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01368"/>
            <a:ext cx="11094415" cy="10972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11095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Operating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911095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Linux  (Debian in container)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911095"/>
            <a:ext cx="4190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free;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7685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68296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Web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368296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Apache 2.4 + mod_wsgi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368296"/>
            <a:ext cx="4190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required; hosts the Python app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73405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25496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Language · framework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825496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Python 3 · Flask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825496"/>
            <a:ext cx="4190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routing, templates, sessions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9125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282696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Database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282696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MySQL  (MariaDB 11, InnoDB)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282696"/>
            <a:ext cx="4190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required; transactions, row locks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64845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739896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Database driver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739896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PyMySQL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739896"/>
            <a:ext cx="4190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pure-Python MySQL client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10565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197096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User interface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4197096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Jinja2 templates · HTML · one CSS 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197096"/>
            <a:ext cx="4190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server-rendered, no JS framework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56285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654296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4654296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Werkzeug hashing · signed session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654296"/>
            <a:ext cx="4190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no plain-text passwords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02005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111496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Deployment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5111496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Docker Compose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5111496"/>
            <a:ext cx="4190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app + DB containers, one command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47725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568696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568696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Python unittest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5568696"/>
            <a:ext cx="41906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rules tested without a database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71717A"/>
                </a:solidFill>
                <a:latin typeface="Calibri"/>
              </a:rPr>
              <a:t>Browser  ·  HTML 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4206240" cy="26517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4E4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APP CONTAINER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3840479" cy="594360"/>
          </a:xfrm>
          <a:prstGeom prst="roundRect">
            <a:avLst>
              <a:gd name="adj" fmla="val 6000"/>
            </a:avLst>
          </a:prstGeom>
          <a:solidFill>
            <a:srgbClr val="FFF1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3474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Apache + mod_wsgi</a:t>
            </a:r>
            <a:r>
              <a:rPr sz="1300" b="0">
                <a:solidFill>
                  <a:srgbClr val="71717A"/>
                </a:solidFill>
                <a:latin typeface="Calibri"/>
              </a:rPr>
              <a:t>   web server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3840479" cy="59436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3474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app.py</a:t>
            </a:r>
            <a:r>
              <a:rPr sz="1300" b="0">
                <a:solidFill>
                  <a:srgbClr val="71717A"/>
                </a:solidFill>
                <a:latin typeface="Calibri"/>
              </a:rPr>
              <a:t>   routes · role guard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3840479" cy="59436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3474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models.py  ·  db.py</a:t>
            </a:r>
            <a:r>
              <a:rPr sz="1300" b="0">
                <a:solidFill>
                  <a:srgbClr val="71717A"/>
                </a:solidFill>
                <a:latin typeface="Calibri"/>
              </a:rPr>
              <a:t>   logic · storage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92040"/>
            <a:ext cx="4206240" cy="8229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4E4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9834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DB CONTAINER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840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MySQL / MariaDB</a:t>
            </a:r>
            <a:r>
              <a:rPr sz="1300" b="0">
                <a:solidFill>
                  <a:srgbClr val="71717A"/>
                </a:solidFill>
                <a:latin typeface="Calibri"/>
              </a:rPr>
              <a:t>   InnoDB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46273" y="1828800"/>
            <a:ext cx="10972" cy="137159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46273" y="4617720"/>
            <a:ext cx="10972" cy="274319"/>
          </a:xfrm>
          <a:prstGeom prst="rect">
            <a:avLst/>
          </a:prstGeom>
          <a:solidFill>
            <a:srgbClr val="7171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399" y="1554480"/>
            <a:ext cx="6156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8181B"/>
                </a:solidFill>
                <a:latin typeface="Calibri"/>
              </a:rPr>
              <a:t>Free software stack</a:t>
            </a:r>
          </a:p>
          <a:p>
            <a:r>
              <a:rPr sz="1400" b="0">
                <a:solidFill>
                  <a:srgbClr val="71717A"/>
                </a:solidFill>
                <a:latin typeface="Calibri"/>
              </a:rPr>
              <a:t>Linux, MySQL, Apache, as the statement requires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399" y="2157984"/>
            <a:ext cx="6156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8181B"/>
                </a:solidFill>
                <a:latin typeface="Calibri"/>
              </a:rPr>
              <a:t>Layered</a:t>
            </a:r>
          </a:p>
          <a:p>
            <a:r>
              <a:rPr sz="1400" b="0">
                <a:solidFill>
                  <a:srgbClr val="71717A"/>
                </a:solidFill>
                <a:latin typeface="Calibri"/>
              </a:rPr>
              <a:t>web server → routes → models → 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399" y="2761488"/>
            <a:ext cx="6156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8181B"/>
                </a:solidFill>
                <a:latin typeface="Calibri"/>
              </a:rPr>
              <a:t>Models = class diagram</a:t>
            </a:r>
          </a:p>
          <a:p>
            <a:r>
              <a:rPr sz="1400" b="0">
                <a:solidFill>
                  <a:srgbClr val="71717A"/>
                </a:solidFill>
                <a:latin typeface="Calibri"/>
              </a:rPr>
              <a:t>no web or DB code inside, so unit-testable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399" y="3364991"/>
            <a:ext cx="6156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8181B"/>
                </a:solidFill>
                <a:latin typeface="Calibri"/>
              </a:rPr>
              <a:t>One place per rule</a:t>
            </a:r>
          </a:p>
          <a:p>
            <a:r>
              <a:rPr sz="1400" b="0">
                <a:solidFill>
                  <a:srgbClr val="71717A"/>
                </a:solidFill>
                <a:latin typeface="Calibri"/>
              </a:rPr>
              <a:t>refund in Ticket, validation in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399" y="3968496"/>
            <a:ext cx="6156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8181B"/>
                </a:solidFill>
                <a:latin typeface="Calibri"/>
              </a:rPr>
              <a:t>Role-based access</a:t>
            </a:r>
          </a:p>
          <a:p>
            <a:r>
              <a:rPr sz="1400" b="0">
                <a:solidFill>
                  <a:srgbClr val="71717A"/>
                </a:solidFill>
                <a:latin typeface="Calibri"/>
              </a:rPr>
              <a:t>balance sheets for the manager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399" y="4572000"/>
            <a:ext cx="6156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8181B"/>
                </a:solidFill>
                <a:latin typeface="Calibri"/>
              </a:rPr>
              <a:t>Row locking</a:t>
            </a:r>
          </a:p>
          <a:p>
            <a:r>
              <a:rPr sz="1400" b="0">
                <a:solidFill>
                  <a:srgbClr val="71717A"/>
                </a:solidFill>
                <a:latin typeface="Calibri"/>
              </a:rPr>
              <a:t>SELECT … FOR UPDATE stops double-selling a seat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399" y="5175504"/>
            <a:ext cx="61566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8181B"/>
                </a:solidFill>
                <a:latin typeface="Calibri"/>
              </a:rPr>
              <a:t>Docker Compose</a:t>
            </a:r>
          </a:p>
          <a:p>
            <a:r>
              <a:rPr sz="1400" b="0">
                <a:solidFill>
                  <a:srgbClr val="71717A"/>
                </a:solidFill>
                <a:latin typeface="Calibri"/>
              </a:rPr>
              <a:t>app + database containers, nothing installed on host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WORKING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How a request is handled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696669" cy="214884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33090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9F1239"/>
                </a:solidFill>
                <a:latin typeface="Calibri"/>
              </a:rPr>
              <a:t>1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8181B"/>
                </a:solidFill>
                <a:latin typeface="Calibri"/>
              </a:rPr>
              <a:t>Request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71717A"/>
                </a:solidFill>
                <a:latin typeface="Calibri"/>
              </a:rPr>
              <a:t>Browser submits a page or form (GET / POST)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8189" y="1554480"/>
            <a:ext cx="1696669" cy="214884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1069" y="1737360"/>
            <a:ext cx="133090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9F1239"/>
                </a:solidFill>
                <a:latin typeface="Calibri"/>
              </a:rPr>
              <a:t>2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8181B"/>
                </a:solidFill>
                <a:latin typeface="Calibri"/>
              </a:rPr>
              <a:t>Apache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71717A"/>
                </a:solidFill>
                <a:latin typeface="Calibri"/>
              </a:rPr>
              <a:t>mod_wsgi passes the request to Flask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7738" y="1554480"/>
            <a:ext cx="1696669" cy="214884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37360"/>
            <a:ext cx="133090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9F1239"/>
                </a:solidFill>
                <a:latin typeface="Calibri"/>
              </a:rPr>
              <a:t>3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8181B"/>
                </a:solidFill>
                <a:latin typeface="Calibri"/>
              </a:rPr>
              <a:t>Route + guard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71717A"/>
                </a:solidFill>
                <a:latin typeface="Calibri"/>
              </a:rPr>
              <a:t>role_required() checks the logged-in role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554480"/>
            <a:ext cx="1696669" cy="214884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0167" y="1737360"/>
            <a:ext cx="133090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9F1239"/>
                </a:solidFill>
                <a:latin typeface="Calibri"/>
              </a:rPr>
              <a:t>4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8181B"/>
                </a:solidFill>
                <a:latin typeface="Calibri"/>
              </a:rPr>
              <a:t>Model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71717A"/>
                </a:solidFill>
                <a:latin typeface="Calibri"/>
              </a:rPr>
              <a:t>Show / Ticket / BalanceSheet apply the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554480"/>
            <a:ext cx="1696669" cy="214884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1737360"/>
            <a:ext cx="133090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9F1239"/>
                </a:solidFill>
                <a:latin typeface="Calibri"/>
              </a:rPr>
              <a:t>5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8181B"/>
                </a:solidFill>
                <a:latin typeface="Calibri"/>
              </a:rPr>
              <a:t>MySQL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71717A"/>
                </a:solidFill>
                <a:latin typeface="Calibri"/>
              </a:rPr>
              <a:t>one transaction; show row locked while booking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46386" y="1554480"/>
            <a:ext cx="1696669" cy="214884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29266" y="1737360"/>
            <a:ext cx="133090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9F1239"/>
                </a:solidFill>
                <a:latin typeface="Calibri"/>
              </a:rPr>
              <a:t>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8181B"/>
                </a:solidFill>
                <a:latin typeface="Calibri"/>
              </a:rPr>
              <a:t>Response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71717A"/>
                </a:solidFill>
                <a:latin typeface="Calibri"/>
              </a:rPr>
              <a:t>HTML page, or redirect with a message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EXAMPLE · BOOKING 2 BALCONY SEATS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43400"/>
            <a:ext cx="11094415" cy="105156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10682935" cy="5943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ourier New"/>
              </a:rPr>
              <a:t>POST /sales/book  →  role = sales ✓  →  lock show row  →  2 balcony seats free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→  allocate B1, B2  →  insert 2 tickets with the sales person id  →  commit, unlock  →  printed tickets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692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Cancellation  </a:t>
            </a:r>
            <a:r>
              <a:rPr sz="1400" b="0">
                <a:solidFill>
                  <a:srgbClr val="71717A"/>
                </a:solidFill>
                <a:latin typeface="Calibri"/>
              </a:rPr>
              <a:t>POST /sales/cancel  →  lock ticket  →  days before show  →  refund rule  →  CANCELLED, seat released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UML ·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Use case diagram 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8006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94889" y="1572768"/>
            <a:ext cx="2546148" cy="44897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-1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041" y="1645920"/>
            <a:ext cx="2399844" cy="4343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37436" y="1572768"/>
            <a:ext cx="5172589" cy="44897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m-2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588" y="1645920"/>
            <a:ext cx="5026285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UML ·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Use case diagram 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8006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46673" y="1572768"/>
            <a:ext cx="3298348" cy="44897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-3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9825" y="1645920"/>
            <a:ext cx="315204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UML ·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Class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8006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02121" y="1572768"/>
            <a:ext cx="3587451" cy="44897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-4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273" y="1645920"/>
            <a:ext cx="3441147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UML · ACTIVITY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Booking &amp; cancellation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8006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58044" y="1572768"/>
            <a:ext cx="3475606" cy="44897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2-1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1196" y="1645920"/>
            <a:ext cx="3329302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UML ·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Ticket life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8006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3244" y="1572768"/>
            <a:ext cx="4885206" cy="44897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2-2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396" y="1645920"/>
            <a:ext cx="4738902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UML ·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Ticket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8006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74442" y="1572768"/>
            <a:ext cx="8242809" cy="44897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eq1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594" y="1645920"/>
            <a:ext cx="8096505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UML ·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Show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8006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1146" y="1572768"/>
            <a:ext cx="2689401" cy="44897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eq3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298" y="1645920"/>
            <a:ext cx="2543097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UML ·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Cancellation &amp; refund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8006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55416" y="1572768"/>
            <a:ext cx="3280861" cy="44897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eq2-1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8568" y="1645920"/>
            <a:ext cx="3134557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UML ·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Balance sheet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80060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01228" y="1572768"/>
            <a:ext cx="4189238" cy="448970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eq4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380" y="1645920"/>
            <a:ext cx="404293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DFD · LEVEL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Context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6634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2485838"/>
            <a:ext cx="10783519" cy="2526403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level0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58990"/>
            <a:ext cx="10637215" cy="23800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291072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71717A"/>
                </a:solidFill>
                <a:latin typeface="Calibri"/>
              </a:rPr>
              <a:t>Notation: circle = process  ·  box = external entity  ·  open box = data store  ·  arrow = data flow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DFD · LEVEL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System processes and data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6634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1660006"/>
            <a:ext cx="10783519" cy="417806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level1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3158"/>
            <a:ext cx="10637215" cy="40317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291072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71717A"/>
                </a:solidFill>
                <a:latin typeface="Calibri"/>
              </a:rPr>
              <a:t>Notation: circle = process  ·  box = external entity  ·  open box = data store  ·  arrow = data flow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DFD · LEVEL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3.0  Book tickets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6634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7509" y="1572768"/>
            <a:ext cx="10756675" cy="43525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level2_book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61" y="1645920"/>
            <a:ext cx="10610371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291072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71717A"/>
                </a:solidFill>
                <a:latin typeface="Calibri"/>
              </a:rPr>
              <a:t>The show row is locked (SELECT … FOR UPDATE) between checking and allocating seats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DFD · LEVEL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4.0  Cancel &amp; refund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6634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909" y="1572768"/>
            <a:ext cx="10471875" cy="43525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level2_cancel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61" y="1645920"/>
            <a:ext cx="10325571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291072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71717A"/>
                </a:solidFill>
                <a:latin typeface="Calibri"/>
              </a:rPr>
              <a:t>Refund: 3+ clear days − Rs 5  ·  3 to 1 days − Rs 10 / Rs 15  ·  last day − 50%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Database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4415" cy="46634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2304952"/>
            <a:ext cx="10783519" cy="288817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er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78104"/>
            <a:ext cx="10637215" cy="27418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291072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71717A"/>
                </a:solidFill>
                <a:latin typeface="Calibri"/>
              </a:rPr>
              <a:t>MySQL / InnoDB  ·  foreign keys  ·  UNIQUE(date, timing): one show per slot  ·  ENUMs restrict class, role, status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Diagram →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71717A"/>
                </a:solidFill>
                <a:latin typeface="Calibri"/>
              </a:rPr>
              <a:t>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5087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71717A"/>
                </a:solidFill>
                <a:latin typeface="Calibri"/>
              </a:rPr>
              <a:t>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59" y="1508760"/>
            <a:ext cx="487649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71717A"/>
                </a:solidFill>
                <a:latin typeface="Calibri"/>
              </a:rPr>
              <a:t>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11094415" cy="10972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38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Show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9385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models.Show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1938528"/>
            <a:ext cx="48764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availability, % booked, collection per class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40864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423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Ticket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4231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models.Ticket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2423160"/>
            <a:ext cx="48764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calculate_refund(), cancel_booking()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2549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9077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SalesPerson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90779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models.SalesPerson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2907792"/>
            <a:ext cx="48764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collection(), commission()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310128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39242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BalanceSheet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39242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models.BalanceSheet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59" y="3392424"/>
            <a:ext cx="48764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per show and yearly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94760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8770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Expenditure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87705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models.Expenditure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59" y="3877056"/>
            <a:ext cx="48764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entered by the accounts clerk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279392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3616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Seat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436168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Ticket.seat_no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4361688"/>
            <a:ext cx="48764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allocated by Show.next_seat_no()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764024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846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Actors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4846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users table + role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59" y="4846320"/>
            <a:ext cx="48764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/manager, /sales, /clerk routes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24865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3309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Login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533095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role_required()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59" y="5330952"/>
            <a:ext cx="48764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guards every page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733288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8155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8181B"/>
                </a:solidFill>
                <a:latin typeface="Calibri"/>
              </a:rPr>
              <a:t>Persistence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81558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1239"/>
                </a:solidFill>
                <a:latin typeface="Calibri"/>
              </a:rPr>
              <a:t>schema.sql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59" y="5815584"/>
            <a:ext cx="48764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71717A"/>
                </a:solidFill>
                <a:latin typeface="Calibri"/>
              </a:rPr>
              <a:t>users, shows, tickets, expenditures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USER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Pages and who can open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20116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4173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PUBLIC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4173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CLERK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1732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709928"/>
            <a:ext cx="11094415" cy="10972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819656"/>
            <a:ext cx="1965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Home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819656"/>
            <a:ext cx="25146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819656"/>
            <a:ext cx="731519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819656"/>
            <a:ext cx="822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1819656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1819656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819656"/>
            <a:ext cx="272765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tiles change with the 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121408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212848"/>
            <a:ext cx="1965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Log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2212848"/>
            <a:ext cx="25146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/login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212848"/>
            <a:ext cx="731519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212848"/>
            <a:ext cx="822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212848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2212848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212848"/>
            <a:ext cx="272765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staff sign-in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514600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2606040"/>
            <a:ext cx="1965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Seat availability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2606040"/>
            <a:ext cx="25146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/availability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606040"/>
            <a:ext cx="731519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2606040"/>
            <a:ext cx="822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2606040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606040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2606040"/>
            <a:ext cx="272765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seats left and prices, read-only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2907792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2999232"/>
            <a:ext cx="1965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Shows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51760" y="2999232"/>
            <a:ext cx="25146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/manager/shows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2999232"/>
            <a:ext cx="731519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200" y="2999232"/>
            <a:ext cx="822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2999232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2999232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2999232"/>
            <a:ext cx="272765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create shows, seats, prices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3300984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392424"/>
            <a:ext cx="1965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Sales persons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51760" y="3392424"/>
            <a:ext cx="25146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/manager/salespersons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392424"/>
            <a:ext cx="731519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3392424"/>
            <a:ext cx="822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3392424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392424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3392424"/>
            <a:ext cx="272765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accounts and commission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369417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3785615"/>
            <a:ext cx="1965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Statistics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3785615"/>
            <a:ext cx="25146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/manager/stats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03520" y="3785615"/>
            <a:ext cx="731519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3785615"/>
            <a:ext cx="822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32320" y="3785615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79" y="3785615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0" y="3785615"/>
            <a:ext cx="272765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% booked and amount, per class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4087368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4178808"/>
            <a:ext cx="1965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Balance sheets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51760" y="4178808"/>
            <a:ext cx="25146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/manager/balance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03520" y="4178808"/>
            <a:ext cx="731519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72200" y="4178808"/>
            <a:ext cx="822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0" y="4178808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55279" y="4178808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78240" y="4178808"/>
            <a:ext cx="272765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per show or per year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4480560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8640" y="4572000"/>
            <a:ext cx="1965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Book tickets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51760" y="4572000"/>
            <a:ext cx="25146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/sales/book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03520" y="4572000"/>
            <a:ext cx="731519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72200" y="4572000"/>
            <a:ext cx="822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572000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955279" y="4572000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78240" y="4572000"/>
            <a:ext cx="272765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sell seats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4873752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4965192"/>
            <a:ext cx="1965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Ticket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51760" y="4965192"/>
            <a:ext cx="25146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/sales/ticket/&lt;id&gt;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4965192"/>
            <a:ext cx="731519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72200" y="4965192"/>
            <a:ext cx="822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132320" y="4965192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955279" y="4965192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78240" y="4965192"/>
            <a:ext cx="272765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print or reprint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8640" y="5266944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48640" y="5358384"/>
            <a:ext cx="1965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Cancel ticket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51760" y="5358384"/>
            <a:ext cx="25146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/sales/cancel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03520" y="5358384"/>
            <a:ext cx="731519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72200" y="5358384"/>
            <a:ext cx="822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32320" y="5358384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55279" y="5358384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778240" y="5358384"/>
            <a:ext cx="272765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cancel and refund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48640" y="566013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5751576"/>
            <a:ext cx="1965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Expenditure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651760" y="5751576"/>
            <a:ext cx="25146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/clerk/expenditure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303520" y="5751576"/>
            <a:ext cx="731519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5751576"/>
            <a:ext cx="82296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32320" y="5751576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/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955279" y="5751576"/>
            <a:ext cx="685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F1239"/>
                </a:solidFill>
                <a:latin typeface="Calibri"/>
              </a:rPr>
              <a:t>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78240" y="5751576"/>
            <a:ext cx="272765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71717A"/>
                </a:solidFill>
                <a:latin typeface="Calibri"/>
              </a:rPr>
              <a:t>record show expenses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USER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How the pages differ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2602153" cy="356616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2144953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1">
                <a:solidFill>
                  <a:srgbClr val="9F1239"/>
                </a:solidFill>
                <a:latin typeface="Calibri"/>
              </a:rPr>
              <a:t>READ-ONLY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8181B"/>
                </a:solidFill>
                <a:latin typeface="Calibri"/>
              </a:rPr>
              <a:t>Public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8181B"/>
                </a:solidFill>
                <a:latin typeface="Calibri"/>
              </a:rPr>
              <a:t>Home · Seat availability · Log in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71717A"/>
                </a:solidFill>
                <a:latin typeface="Calibri"/>
              </a:rPr>
              <a:t>No login needed. Shows only seats left and prices, never sales or money.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508760"/>
            <a:ext cx="2602153" cy="356616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7993" y="1737360"/>
            <a:ext cx="2144953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1">
                <a:solidFill>
                  <a:srgbClr val="9F1239"/>
                </a:solidFill>
                <a:latin typeface="Calibri"/>
              </a:rPr>
              <a:t>CONFIGURE + REPORT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8181B"/>
                </a:solidFill>
                <a:latin typeface="Calibri"/>
              </a:rPr>
              <a:t>Show Manager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8181B"/>
                </a:solidFill>
                <a:latin typeface="Calibri"/>
              </a:rPr>
              <a:t>Shows · Sales persons · Statistics · Balance sheets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71717A"/>
                </a:solidFill>
                <a:latin typeface="Calibri"/>
              </a:rPr>
              <a:t>Sets up shows and accounts. Only role that sees totals, commission and balance sheets.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7" y="1508760"/>
            <a:ext cx="2602153" cy="356616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47" y="1737360"/>
            <a:ext cx="2144953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1">
                <a:solidFill>
                  <a:srgbClr val="9F1239"/>
                </a:solidFill>
                <a:latin typeface="Calibri"/>
              </a:rPr>
              <a:t>TRANSACTIONS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8181B"/>
                </a:solidFill>
                <a:latin typeface="Calibri"/>
              </a:rPr>
              <a:t>Sales Person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8181B"/>
                </a:solidFill>
                <a:latin typeface="Calibri"/>
              </a:rPr>
              <a:t>Book · Ticket · Cancel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71717A"/>
                </a:solidFill>
                <a:latin typeface="Calibri"/>
              </a:rPr>
              <a:t>Changes seat state. Every sale and refund is tied to this sales person.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40901" y="1508760"/>
            <a:ext cx="2602153" cy="356616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9501" y="1737360"/>
            <a:ext cx="2144953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1">
                <a:solidFill>
                  <a:srgbClr val="9F1239"/>
                </a:solidFill>
                <a:latin typeface="Calibri"/>
              </a:rPr>
              <a:t>DATA ENTRY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8181B"/>
                </a:solidFill>
                <a:latin typeface="Calibri"/>
              </a:rPr>
              <a:t>Accounts Clerk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8181B"/>
                </a:solidFill>
                <a:latin typeface="Calibri"/>
              </a:rPr>
              <a:t>Expenditure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71717A"/>
                </a:solidFill>
                <a:latin typeface="Calibri"/>
              </a:rPr>
              <a:t>Adds costs to a show. Cannot see income or balance sheets.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9496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Shared  </a:t>
            </a:r>
            <a:r>
              <a:rPr sz="1400" b="0">
                <a:solidFill>
                  <a:srgbClr val="71717A"/>
                </a:solidFill>
                <a:latin typeface="Calibri"/>
              </a:rPr>
              <a:t>one layout and stylesheet  ·  navigation built from the session role  ·  opening another role's page redirects to login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Endpoints · public and show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9601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371600"/>
            <a:ext cx="26974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ENDPOINT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3716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3716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371600"/>
            <a:ext cx="3001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64208"/>
            <a:ext cx="11094415" cy="10972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73936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773936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773936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any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773936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773936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home tiles for the role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12264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03704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203704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/availability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203704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any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203704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203704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upcoming shows, seats left, prices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542032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633472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1239"/>
                </a:solidFill>
                <a:latin typeface="Calibri"/>
              </a:rPr>
              <a:t>GET 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2633472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/login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633472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any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633472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username, password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633472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302 → / and session · or error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971799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063239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3063239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/logout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063239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any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3063239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063239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clears session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401567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493008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3493008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/manager/shows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493008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manager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493008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493008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shows list + new-show form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83133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3922775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1239"/>
                </a:solidFill>
                <a:latin typeface="Calibri"/>
              </a:rPr>
              <a:t>POST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0200" y="3922775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/manager/shows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3922775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manager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49240" y="3922775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title, date, timings, seats, prices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3922775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one show per timing; validated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261103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352544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1239"/>
                </a:solidFill>
                <a:latin typeface="Calibri"/>
              </a:rPr>
              <a:t>POST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00200" y="4352544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/manager/shows/&lt;id&gt;/prices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4352544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manager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49240" y="4352544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balcony_price, ordinary_price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4352544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updates prices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4690872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782312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1239"/>
                </a:solidFill>
                <a:latin typeface="Calibri"/>
              </a:rPr>
              <a:t>GET POST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00200" y="4782312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/manager/salespersons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4782312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manager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49240" y="4782312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name, username, password, rate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4782312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list with commission · create account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5120640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212079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00200" y="5212079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/manager/stats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20" y="5212079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manager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49240" y="5212079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49640" y="5212079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% booked, amount per class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5550407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641848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GET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00200" y="5641848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/manager/balance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89120" y="5641848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manager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49240" y="5641848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?show=&lt;id&gt;  or  ?year=&lt;yyyy&gt;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49640" y="5641848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income, commission, expenditure, net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Endpoints · sales person and clerk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9601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371600"/>
            <a:ext cx="26974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ENDPOINT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3716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3716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371600"/>
            <a:ext cx="30019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64208"/>
            <a:ext cx="11094415" cy="10972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73936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773936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/sales/book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773936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773936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773936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form with seats left per class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12264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03704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1239"/>
                </a:solidFill>
                <a:latin typeface="Calibri"/>
              </a:rPr>
              <a:t>POST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203704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/sales/book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203704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203704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show, category, qty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203704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200 printable tickets · or error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542032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633472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2633472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/sales/ticket/&lt;id&gt;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633472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sales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633472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633472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reprint a ticket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971799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063239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3063239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/sales/cancel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063239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sales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3063239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063239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cancellation form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401567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493008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1239"/>
                </a:solidFill>
                <a:latin typeface="Calibri"/>
              </a:rPr>
              <a:t>POST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3493008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/sales/cancel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493008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sales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493008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ticket_id, cancel_date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493008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CANCELLED + refund amount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831336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3922775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GET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0200" y="3922775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/clerk/expenditure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3922775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clerk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49240" y="3922775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3922775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form + expenditure 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261103"/>
            <a:ext cx="11094415" cy="1097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352544"/>
            <a:ext cx="914399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1239"/>
                </a:solidFill>
                <a:latin typeface="Calibri"/>
              </a:rPr>
              <a:t>POST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00200" y="4352544"/>
            <a:ext cx="26517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/clerk/expenditure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4352544"/>
            <a:ext cx="8229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clerk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49240" y="4352544"/>
            <a:ext cx="306324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show, type, description, amount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4352544"/>
            <a:ext cx="2956255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alibri"/>
              </a:rPr>
              <a:t>records expense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4800600"/>
            <a:ext cx="2602153" cy="105156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4937760"/>
            <a:ext cx="2236393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Format</a:t>
            </a:r>
          </a:p>
          <a:p>
            <a:r>
              <a:rPr sz="1200" b="0">
                <a:solidFill>
                  <a:srgbClr val="71717A"/>
                </a:solidFill>
                <a:latin typeface="Calibri"/>
              </a:rPr>
              <a:t>HTML pages; forms sent as POST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379393" y="4800600"/>
            <a:ext cx="2602153" cy="105156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62273" y="4937760"/>
            <a:ext cx="2236393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Post / Redirect / Get</a:t>
            </a:r>
          </a:p>
          <a:p>
            <a:r>
              <a:rPr sz="1200" b="0">
                <a:solidFill>
                  <a:srgbClr val="71717A"/>
                </a:solidFill>
                <a:latin typeface="Calibri"/>
              </a:rPr>
              <a:t>success → 302 back with a message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0147" y="4800600"/>
            <a:ext cx="2602153" cy="105156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93027" y="4937760"/>
            <a:ext cx="2236393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Auth</a:t>
            </a:r>
          </a:p>
          <a:p>
            <a:r>
              <a:rPr sz="1200" b="0">
                <a:solidFill>
                  <a:srgbClr val="71717A"/>
                </a:solidFill>
                <a:latin typeface="Calibri"/>
              </a:rPr>
              <a:t>signed session cookie; wrong role → 302 /login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40901" y="4800600"/>
            <a:ext cx="2602153" cy="105156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23781" y="4937760"/>
            <a:ext cx="2236393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Errors</a:t>
            </a:r>
          </a:p>
          <a:p>
            <a:r>
              <a:rPr sz="1200" b="0">
                <a:solidFill>
                  <a:srgbClr val="71717A"/>
                </a:solidFill>
                <a:latin typeface="Calibri"/>
              </a:rPr>
              <a:t>shown as a message; the transaction is rolled back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291072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71717A"/>
                </a:solidFill>
                <a:latin typeface="Calibri"/>
              </a:rPr>
              <a:t>Full reference: sams/docs/API.md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Show manager ·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25</a:t>
            </a:r>
          </a:p>
        </p:txBody>
      </p:sp>
      <p:pic>
        <p:nvPicPr>
          <p:cNvPr id="5" name="Picture 4" descr="shows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581" y="1508760"/>
            <a:ext cx="7008532" cy="4160520"/>
          </a:xfrm>
          <a:prstGeom prst="rect">
            <a:avLst/>
          </a:prstGeom>
          <a:ln w="9525">
            <a:solidFill>
              <a:srgbClr val="E4E4E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91581" y="5806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Shows: dates, several timings per date, seats for sale, complimentary seats, prices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Show manager ·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26</a:t>
            </a:r>
          </a:p>
        </p:txBody>
      </p:sp>
      <p:pic>
        <p:nvPicPr>
          <p:cNvPr id="5" name="Picture 4" descr="stats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11094415" cy="3716629"/>
          </a:xfrm>
          <a:prstGeom prst="rect">
            <a:avLst/>
          </a:prstGeom>
          <a:ln w="9525">
            <a:solidFill>
              <a:srgbClr val="E4E4E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362549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% of seats booked and amount collected, per seat class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Show manager ·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27</a:t>
            </a:r>
          </a:p>
        </p:txBody>
      </p:sp>
      <p:pic>
        <p:nvPicPr>
          <p:cNvPr id="5" name="Picture 4" descr="balanc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311" y="1508760"/>
            <a:ext cx="7521071" cy="4160520"/>
          </a:xfrm>
          <a:prstGeom prst="rect">
            <a:avLst/>
          </a:prstGeom>
          <a:ln w="9525">
            <a:solidFill>
              <a:srgbClr val="E4E4E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335311" y="5806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Balance sheet per show or year, manager only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Sales person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28</a:t>
            </a:r>
          </a:p>
        </p:txBody>
      </p:sp>
      <p:pic>
        <p:nvPicPr>
          <p:cNvPr id="5" name="Picture 4" descr="ticket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508760"/>
            <a:ext cx="5364327" cy="3367605"/>
          </a:xfrm>
          <a:prstGeom prst="rect">
            <a:avLst/>
          </a:prstGeom>
          <a:ln w="9525">
            <a:solidFill>
              <a:srgbClr val="E4E4E7"/>
            </a:solidFill>
          </a:ln>
        </p:spPr>
      </p:pic>
      <p:pic>
        <p:nvPicPr>
          <p:cNvPr id="6" name="Picture 5" descr="cancel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508760"/>
            <a:ext cx="5364327" cy="3531515"/>
          </a:xfrm>
          <a:prstGeom prst="rect">
            <a:avLst/>
          </a:prstGeom>
          <a:ln w="9525">
            <a:solidFill>
              <a:srgbClr val="E4E4E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39" y="5177435"/>
            <a:ext cx="53643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Printed tickets with seat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5177435"/>
            <a:ext cx="536432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Cancellation with refund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Accounts clerk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29</a:t>
            </a:r>
          </a:p>
        </p:txBody>
      </p:sp>
      <p:pic>
        <p:nvPicPr>
          <p:cNvPr id="5" name="Picture 4" descr="expenditur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682" y="1508760"/>
            <a:ext cx="8374331" cy="4160520"/>
          </a:xfrm>
          <a:prstGeom prst="rect">
            <a:avLst/>
          </a:prstGeom>
          <a:ln w="9525">
            <a:solidFill>
              <a:srgbClr val="E4E4E7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908682" y="58064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71717A"/>
                </a:solidFill>
                <a:latin typeface="Calibri"/>
              </a:rPr>
              <a:t>Expenditure entry, including payment to artists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F1239"/>
                </a:solidFill>
                <a:latin typeface="Calibri"/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8181B"/>
                </a:solidFill>
                <a:latin typeface="Calibri"/>
              </a:rPr>
              <a:t>Running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1717A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COMMANDS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364327" cy="237744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49528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ourier New"/>
              </a:rPr>
              <a:t>cd sams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docker compose up --build  # :8080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docker compose down         # stop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docker compose down -v      # wipe data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/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python -m unittest          #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34840"/>
            <a:ext cx="536432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8181B"/>
                </a:solidFill>
                <a:latin typeface="Calibri"/>
              </a:rPr>
              <a:t>Logins  </a:t>
            </a:r>
            <a:r>
              <a:rPr sz="1400" b="0">
                <a:solidFill>
                  <a:srgbClr val="71717A"/>
                </a:solidFill>
                <a:latin typeface="Calibri"/>
              </a:rPr>
              <a:t>manager/manager · sales1/sales1 · clerk/clerk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463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71717A"/>
                </a:solidFill>
                <a:latin typeface="Calibri"/>
              </a:rPr>
              <a:t>PROJECT 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783080"/>
            <a:ext cx="5364327" cy="4069080"/>
          </a:xfrm>
          <a:prstGeom prst="roundRect">
            <a:avLst>
              <a:gd name="adj" fmla="val 3000"/>
            </a:avLst>
          </a:prstGeom>
          <a:solidFill>
            <a:srgbClr val="F4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2011680"/>
            <a:ext cx="4952847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18181B"/>
                </a:solidFill>
                <a:latin typeface="Courier New"/>
              </a:rPr>
              <a:t>sams/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├── app.py             routes, role guard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├── models.py          domain classes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├── db.py              MySQL access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├── schema.sql         tables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├── test_models.py     unit tests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├── templates/         pages (Jinja2)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├── static/style.css   stylesheet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├── docs/              API.md, diagrams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├── Dockerfile</a:t>
            </a:r>
          </a:p>
          <a:p>
            <a:r>
              <a:rPr sz="1300" b="0">
                <a:solidFill>
                  <a:srgbClr val="18181B"/>
                </a:solidFill>
                <a:latin typeface="Courier New"/>
              </a:rPr>
              <a:t>└── docker-compose.yml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