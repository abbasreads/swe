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057400"/>
            <a:ext cx="128016" cy="128016"/>
          </a:xfrm>
          <a:prstGeom prst="ellipse">
            <a:avLst/>
          </a:prstGeom>
          <a:solidFill>
            <a:srgbClr val="9F12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9659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9F1239"/>
                </a:solidFill>
                <a:latin typeface="Calibri"/>
              </a:rPr>
              <a:t>SAMS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rgbClr val="18181B"/>
                </a:solidFill>
                <a:latin typeface="Calibri"/>
              </a:rPr>
              <a:t>Students' Auditorium</a:t>
            </a:r>
          </a:p>
          <a:p>
            <a:r>
              <a:rPr sz="4800" b="1">
                <a:solidFill>
                  <a:srgbClr val="18181B"/>
                </a:solidFill>
                <a:latin typeface="Calibri"/>
              </a:rPr>
              <a:t>Management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71717A"/>
                </a:solidFill>
                <a:latin typeface="Calibri"/>
              </a:rPr>
              <a:t>Software Engineering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71717A"/>
                </a:solidFill>
                <a:latin typeface="Calibri"/>
              </a:rPr>
              <a:t>Mohammad Abbas Mehdi  ·  24JE0656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Replace the manual show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2144953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8181B"/>
                </a:solidFill>
                <a:latin typeface="Calibri"/>
              </a:rPr>
              <a:t>Show Manager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71717A"/>
                </a:solidFill>
                <a:latin typeface="Calibri"/>
              </a:rPr>
              <a:t>Show dates, timings, seats for sale, complimentary seats, prices, sales accounts,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46304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7993" y="1691640"/>
            <a:ext cx="2144953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8181B"/>
                </a:solidFill>
                <a:latin typeface="Calibri"/>
              </a:rPr>
              <a:t>Sales Person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71717A"/>
                </a:solidFill>
                <a:latin typeface="Calibri"/>
              </a:rPr>
              <a:t>Sells tickets with seat numbers; each sale records the sales person for commission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146304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8747" y="1691640"/>
            <a:ext cx="2144953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8181B"/>
                </a:solidFill>
                <a:latin typeface="Calibri"/>
              </a:rPr>
              <a:t>Spectator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71717A"/>
                </a:solidFill>
                <a:latin typeface="Calibri"/>
              </a:rPr>
              <a:t>Queries seat availability; books and cancels through a sales person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0901" y="1463040"/>
            <a:ext cx="2602153" cy="20116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9501" y="1691640"/>
            <a:ext cx="2144953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8181B"/>
                </a:solidFill>
                <a:latin typeface="Calibri"/>
              </a:rPr>
              <a:t>Accounts Clerk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71717A"/>
                </a:solidFill>
                <a:latin typeface="Calibri"/>
              </a:rPr>
              <a:t>Enters show expenditure, including payment to artists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71717A"/>
                </a:solidFill>
                <a:latin typeface="Calibri"/>
              </a:rPr>
              <a:t>REFUND ON CANCELLATION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89120"/>
            <a:ext cx="308853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9F1239"/>
                </a:solidFill>
                <a:latin typeface="Calibri"/>
              </a:rPr>
              <a:t>− Rs 5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71717A"/>
                </a:solidFill>
                <a:latin typeface="Calibri"/>
              </a:rPr>
              <a:t>3+ clear days before the show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20624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1578" y="4389120"/>
            <a:ext cx="308853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9F1239"/>
                </a:solidFill>
                <a:latin typeface="Calibri"/>
              </a:rPr>
              <a:t>− Rs 10 / 15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71717A"/>
                </a:solidFill>
                <a:latin typeface="Calibri"/>
              </a:rPr>
              <a:t>3 to 1 days before (ordinary / balcony)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4206240"/>
            <a:ext cx="354573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4389120"/>
            <a:ext cx="308853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9F1239"/>
                </a:solidFill>
                <a:latin typeface="Calibri"/>
              </a:rPr>
              <a:t>− 50%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71717A"/>
                </a:solidFill>
                <a:latin typeface="Calibri"/>
              </a:rPr>
              <a:t>last day of the show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8181B"/>
                </a:solidFill>
                <a:latin typeface="Calibri"/>
              </a:rPr>
              <a:t>Constraint  </a:t>
            </a:r>
            <a:r>
              <a:rPr sz="1400" b="0">
                <a:solidFill>
                  <a:srgbClr val="71717A"/>
                </a:solidFill>
                <a:latin typeface="Calibri"/>
              </a:rPr>
              <a:t>low cost, free software: Linux · MySQL · Apache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UML ·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Use case diagram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8006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94889" y="1572768"/>
            <a:ext cx="2546148" cy="4489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m-1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041" y="1645920"/>
            <a:ext cx="2399844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7436" y="1572768"/>
            <a:ext cx="5172589" cy="4489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m-2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588" y="1645920"/>
            <a:ext cx="502628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UML ·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Use case diagram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8006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46673" y="1572768"/>
            <a:ext cx="3298348" cy="4489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m-3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825" y="1645920"/>
            <a:ext cx="315204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UML ·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Class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8006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02121" y="1572768"/>
            <a:ext cx="3587451" cy="4489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m-4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273" y="1645920"/>
            <a:ext cx="344114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UML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Booking &amp; cancellation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8006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58044" y="1572768"/>
            <a:ext cx="3475606" cy="4489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m2-1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196" y="1645920"/>
            <a:ext cx="332930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UML ·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Ticket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8006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3244" y="1572768"/>
            <a:ext cx="4885206" cy="4489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m2-2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396" y="1645920"/>
            <a:ext cx="473890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UML ·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Ticket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8006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74442" y="1572768"/>
            <a:ext cx="8242809" cy="4489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eq1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594" y="1645920"/>
            <a:ext cx="809650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UML ·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Show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8006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1146" y="1572768"/>
            <a:ext cx="2689401" cy="4489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eq3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298" y="1645920"/>
            <a:ext cx="254309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UML ·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Cancellation &amp; refund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8006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55416" y="1572768"/>
            <a:ext cx="3280861" cy="4489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eq2-1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568" y="1645920"/>
            <a:ext cx="313455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UML ·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Balance sheet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8006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1228" y="1572768"/>
            <a:ext cx="4189238" cy="4489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eq4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380" y="1645920"/>
            <a:ext cx="404293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1717A"/>
                </a:solidFill>
                <a:latin typeface="Calibri"/>
              </a:rPr>
              <a:t>Browser  ·  HTML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4206240" cy="265176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E4E4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71717A"/>
                </a:solidFill>
                <a:latin typeface="Calibri"/>
              </a:rPr>
              <a:t>APP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840479" cy="594360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Apache + mod_wsgi</a:t>
            </a:r>
            <a:r>
              <a:rPr sz="1300" b="0">
                <a:solidFill>
                  <a:srgbClr val="71717A"/>
                </a:solidFill>
                <a:latin typeface="Calibri"/>
              </a:rPr>
              <a:t>   web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3840479" cy="59436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app.py</a:t>
            </a:r>
            <a:r>
              <a:rPr sz="1300" b="0">
                <a:solidFill>
                  <a:srgbClr val="71717A"/>
                </a:solidFill>
                <a:latin typeface="Calibri"/>
              </a:rPr>
              <a:t>   routes · role guard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840479" cy="59436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models.py  ·  db.py</a:t>
            </a:r>
            <a:r>
              <a:rPr sz="1300" b="0">
                <a:solidFill>
                  <a:srgbClr val="71717A"/>
                </a:solidFill>
                <a:latin typeface="Calibri"/>
              </a:rPr>
              <a:t>   logic ·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92040"/>
            <a:ext cx="4206240" cy="82296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E4E4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71717A"/>
                </a:solidFill>
                <a:latin typeface="Calibri"/>
              </a:rPr>
              <a:t>DB 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8404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MySQL / MariaDB</a:t>
            </a:r>
            <a:r>
              <a:rPr sz="1300" b="0">
                <a:solidFill>
                  <a:srgbClr val="71717A"/>
                </a:solidFill>
                <a:latin typeface="Calibri"/>
              </a:rPr>
              <a:t>   InnoDB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46273" y="1828800"/>
            <a:ext cx="10972" cy="137159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46273" y="4617720"/>
            <a:ext cx="10972" cy="274319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399" y="1554480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Free software stack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Linux, MySQL, Apache, as the statement requires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157984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Layered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web server → routes → models →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9" y="2761488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Models = class diagram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no web or DB code inside, so unit-testable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399" y="3364991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One place per rule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refund in Ticket, validation in Show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399" y="3968496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Role-based access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balance sheets for the manager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399" y="4572000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Row locking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SELECT … FOR UPDATE stops double-selling a seat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399" y="5175504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Docker Compose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app + database containers, nothing installed on host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Diagram →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71717A"/>
                </a:solidFill>
                <a:latin typeface="Calibri"/>
              </a:rPr>
              <a:t>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5087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71717A"/>
                </a:solidFill>
                <a:latin typeface="Calibri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59" y="15087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71717A"/>
                </a:solidFill>
                <a:latin typeface="Calibri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1094415" cy="10972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385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38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1239"/>
                </a:solidFill>
                <a:latin typeface="Calibri"/>
              </a:rPr>
              <a:t>models.Show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1938528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71717A"/>
                </a:solidFill>
                <a:latin typeface="Calibri"/>
              </a:rPr>
              <a:t>availability, % booked, collection per 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40864"/>
            <a:ext cx="11094415" cy="10972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23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1239"/>
                </a:solidFill>
                <a:latin typeface="Calibri"/>
              </a:rPr>
              <a:t>models.Ticket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423160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71717A"/>
                </a:solidFill>
                <a:latin typeface="Calibri"/>
              </a:rPr>
              <a:t>calculate_refund(), cancel_booking()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25496"/>
            <a:ext cx="11094415" cy="10972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077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SalesPerson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9077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1239"/>
                </a:solidFill>
                <a:latin typeface="Calibri"/>
              </a:rPr>
              <a:t>models.SalesPerson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2907792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71717A"/>
                </a:solidFill>
                <a:latin typeface="Calibri"/>
              </a:rPr>
              <a:t>collection(), commission()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10128"/>
            <a:ext cx="11094415" cy="10972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9242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BalanceSheet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39242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1239"/>
                </a:solidFill>
                <a:latin typeface="Calibri"/>
              </a:rPr>
              <a:t>models.BalanceSheet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3392424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71717A"/>
                </a:solidFill>
                <a:latin typeface="Calibri"/>
              </a:rPr>
              <a:t>per show and yearly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94760"/>
            <a:ext cx="11094415" cy="10972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7705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Expenditure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8770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1239"/>
                </a:solidFill>
                <a:latin typeface="Calibri"/>
              </a:rPr>
              <a:t>models.Expenditure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3877056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71717A"/>
                </a:solidFill>
                <a:latin typeface="Calibri"/>
              </a:rPr>
              <a:t>entered by the accounts clerk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79392"/>
            <a:ext cx="11094415" cy="10972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3616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Seat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1239"/>
                </a:solidFill>
                <a:latin typeface="Calibri"/>
              </a:rPr>
              <a:t>Ticket.seat_no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4361688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71717A"/>
                </a:solidFill>
                <a:latin typeface="Calibri"/>
              </a:rPr>
              <a:t>allocated by Show.next_seat_no()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64024"/>
            <a:ext cx="11094415" cy="10972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46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Actors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846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1239"/>
                </a:solidFill>
                <a:latin typeface="Calibri"/>
              </a:rPr>
              <a:t>users table + role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4846320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71717A"/>
                </a:solidFill>
                <a:latin typeface="Calibri"/>
              </a:rPr>
              <a:t>/manager, /sales, /clerk routes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48656"/>
            <a:ext cx="11094415" cy="10972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309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Login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53309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1239"/>
                </a:solidFill>
                <a:latin typeface="Calibri"/>
              </a:rPr>
              <a:t>role_required()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59" y="5330952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71717A"/>
                </a:solidFill>
                <a:latin typeface="Calibri"/>
              </a:rPr>
              <a:t>guards every page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733288"/>
            <a:ext cx="11094415" cy="10972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8155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8181B"/>
                </a:solidFill>
                <a:latin typeface="Calibri"/>
              </a:rPr>
              <a:t>Persistence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8155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F1239"/>
                </a:solidFill>
                <a:latin typeface="Calibri"/>
              </a:rPr>
              <a:t>schema.sql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59" y="5815584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71717A"/>
                </a:solidFill>
                <a:latin typeface="Calibri"/>
              </a:rPr>
              <a:t>users, shows, tickets, expenditures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Show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14</a:t>
            </a:r>
          </a:p>
        </p:txBody>
      </p:sp>
      <p:pic>
        <p:nvPicPr>
          <p:cNvPr id="5" name="Picture 4" descr="shows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581" y="1508760"/>
            <a:ext cx="7008532" cy="4160520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91581" y="5806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71717A"/>
                </a:solidFill>
                <a:latin typeface="Calibri"/>
              </a:rPr>
              <a:t>Shows: dates, several timings per date, seats for sale, complimentary seats, prices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Show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15</a:t>
            </a:r>
          </a:p>
        </p:txBody>
      </p:sp>
      <p:pic>
        <p:nvPicPr>
          <p:cNvPr id="5" name="Picture 4" descr="stats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4415" cy="3716629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362549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71717A"/>
                </a:solidFill>
                <a:latin typeface="Calibri"/>
              </a:rPr>
              <a:t>% of seats booked and amount collected, per seat class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Show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16</a:t>
            </a:r>
          </a:p>
        </p:txBody>
      </p:sp>
      <p:pic>
        <p:nvPicPr>
          <p:cNvPr id="5" name="Picture 4" descr="balanc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311" y="1508760"/>
            <a:ext cx="7521071" cy="4160520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335311" y="5806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71717A"/>
                </a:solidFill>
                <a:latin typeface="Calibri"/>
              </a:rPr>
              <a:t>Balance sheet per show or year, manager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Sales person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17</a:t>
            </a:r>
          </a:p>
        </p:txBody>
      </p:sp>
      <p:pic>
        <p:nvPicPr>
          <p:cNvPr id="5" name="Picture 4" descr="ticket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508760"/>
            <a:ext cx="5364327" cy="3367605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pic>
        <p:nvPicPr>
          <p:cNvPr id="6" name="Picture 5" descr="cancel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508760"/>
            <a:ext cx="5364327" cy="3531515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39" y="5177435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71717A"/>
                </a:solidFill>
                <a:latin typeface="Calibri"/>
              </a:rPr>
              <a:t>Printed tickets with seat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5177435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71717A"/>
                </a:solidFill>
                <a:latin typeface="Calibri"/>
              </a:rPr>
              <a:t>Cancellation with refund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Accounts clerk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18</a:t>
            </a:r>
          </a:p>
        </p:txBody>
      </p:sp>
      <p:pic>
        <p:nvPicPr>
          <p:cNvPr id="5" name="Picture 4" descr="expenditur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82" y="1508760"/>
            <a:ext cx="8374331" cy="4160520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908682" y="5806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71717A"/>
                </a:solidFill>
                <a:latin typeface="Calibri"/>
              </a:rPr>
              <a:t>Expenditure entry, including payment to artists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F1239"/>
                </a:solidFill>
                <a:latin typeface="Calibri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8181B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292608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9F1239"/>
                </a:solidFill>
                <a:latin typeface="Calibri"/>
              </a:rPr>
              <a:t>11 / 11</a:t>
            </a:r>
          </a:p>
          <a:p>
            <a:r>
              <a:rPr sz="1600" b="0">
                <a:solidFill>
                  <a:srgbClr val="71717A"/>
                </a:solidFill>
                <a:latin typeface="Calibri"/>
              </a:rPr>
              <a:t>unit tests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70710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Refund rules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all four branches, after-show rejection, double cancel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70710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Validation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hall capacity, balcony price &gt; ordinary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70710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Balance sheet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income net of refunds, commission, expenditure, yearly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49040"/>
            <a:ext cx="70710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End to end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manager → sales person → clerk → balance sheet, on Docker + 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80560"/>
            <a:ext cx="70710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8181B"/>
                </a:solidFill>
                <a:latin typeface="Calibri"/>
              </a:rPr>
              <a:t>Access control</a:t>
            </a:r>
          </a:p>
          <a:p>
            <a:r>
              <a:rPr sz="1400" b="0">
                <a:solidFill>
                  <a:srgbClr val="71717A"/>
                </a:solidFill>
                <a:latin typeface="Calibri"/>
              </a:rPr>
              <a:t>sales person and anonymous users denied manager pages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